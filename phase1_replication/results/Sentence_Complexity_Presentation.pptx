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12188952" cy="2377440"/>
          </a:xfrm>
          <a:prstGeom prst="rect">
            <a:avLst/>
          </a:prstGeom>
          <a:solidFill>
            <a:srgbClr val="122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Sentence Complexity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B0C8E8"/>
                </a:solidFill>
              </a:rPr>
              <a:t>Using Eye-Tracking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0DCF0"/>
                </a:solidFill>
              </a:rPr>
              <a:t>Replication of  Singh, Bhatt, Bhatt &amp; Srikant (2016)
EMNLP Workshop on Uphill Battles in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BhagyalaxmiPandiyan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8D8"/>
                </a:solidFill>
              </a:rPr>
              <a:t>GitHub: github.com/BhagyalaxmiPandiyan/sentence-complexity-eyetracking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What was done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36576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6C"/>
                </a:solidFill>
              </a:rPr>
              <a:t>The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Singh et al. (2016) built a pipeline to quantify sentence complexity using eye-tracking measures from the Dundee corpus — a dataset of 10 readers reading 20 newspaper editorials while their eye movements were recorded.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78608"/>
            <a:ext cx="11430000" cy="36576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6C"/>
                </a:solidFill>
              </a:rPr>
              <a:t>Two Systems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62656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System 1: Predict how long readers fixate on each word (reading time regression).
System 2: Given two sentences — one from Wikipedia, one from Simple Wikipedia — classify which is harder to read.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94176"/>
            <a:ext cx="11430000" cy="36576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7673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6C"/>
                </a:solidFill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78224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Reading time is a direct cognitive measure of processing difficulty. Predicting it from text features allows automatic readability assessment without human subjects.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09744"/>
            <a:ext cx="11430000" cy="36576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88289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6C"/>
                </a:solidFill>
              </a:rPr>
              <a:t>Our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937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Replicate both systems using the same datasets, features, and evaluation protocol as the paper — and measure how close we can get to their reported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Four corpora power the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Dundee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2C"/>
                </a:solidFill>
              </a:rPr>
              <a:t>Eye-tracking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9572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10 subjects × 20 texts
50,647 word positions
307,383 fixation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256032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Source: Kennedy et al. (2003)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4173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41732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Penn Treebank (PTB)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2C"/>
                </a:solidFill>
              </a:rPr>
              <a:t>Syntactic grammar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39572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2,312 WSJ articles
PCFG trained on parse trees
Provides syntactic surprisal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4160520"/>
            <a:ext cx="256032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Source: LDC99T42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173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British National
Corpus (BNC)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2C"/>
                </a:solidFill>
              </a:rPr>
              <a:t>Language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39572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100M word corpus
Bigram probabilities
Lexical surprisal &amp; entropy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160520"/>
            <a:ext cx="256032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Source: BNC Consortium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417320"/>
            <a:ext cx="2743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41732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1444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Wiki / SimpleWiki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19933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6B2C"/>
                </a:solidFill>
              </a:rPr>
              <a:t>Readability pairs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395728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117,712 sentence pairs
Aligned Wikipedia ↔ Simple
System 2 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4160520"/>
            <a:ext cx="256032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</a:rPr>
              <a:t>Source: Hwang et al. (2015)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</a:rPr>
              <a:t>Note: BNC (4.4 GB) stored separately on Google Drive — all other datasets included in GitHub 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Each step builds on the previous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103120" cy="41148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A2"/>
                </a:solidFill>
              </a:rPr>
              <a:t>Parse Dundee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</a:rPr>
              <a:t>step1_parse_dundee.py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78892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Read 200 eye-tracking files
Compute FFD, FPD, RPD, TD
Output: dundee_rt.csv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1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463040"/>
            <a:ext cx="2103120" cy="41148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190195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2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A2"/>
                </a:solidFill>
              </a:rPr>
              <a:t>Lexical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</a:rPr>
              <a:t>step2_lexical_features.py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278892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Word length, freq, AoA
BNC bigram probabilities
Output: lexical_features.csv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463040"/>
            <a:ext cx="2103120" cy="41148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90195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5CA2"/>
                </a:solidFill>
              </a:rPr>
              <a:t>Syntactic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</a:rPr>
              <a:t>step3_syntactic_features.py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0912" y="278892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PCFG surprisal from PTB
Embedding depth, entropy
Output: syntactic_features.csv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1463040"/>
            <a:ext cx="2103120" cy="41148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190195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B2C"/>
                </a:solidFill>
              </a:rPr>
              <a:t>System 1 —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1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</a:rPr>
              <a:t>step4_system1.py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1" y="278892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Ridge Regression on 17 features
Predict reading times
Evaluate R² on test 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463040"/>
            <a:ext cx="2103120" cy="41148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1901952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74352" y="193852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6B2C"/>
                </a:solidFill>
              </a:rPr>
              <a:t>System 2 — Classification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4231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</a:rPr>
              <a:t>step5_system2.py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278892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Predict FFD for Wiki pairs
Logistic Regression classifier
10-fold cross-validation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303520"/>
            <a:ext cx="4480560" cy="54864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37667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6B27"/>
                </a:solidFill>
              </a:rPr>
              <a:t>Steps 1–3: Feature Extraction  (need Dundee, PTB, BNC)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5303520"/>
            <a:ext cx="6858000" cy="5486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5376672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4A00"/>
                </a:solidFill>
              </a:rPr>
              <a:t>Steps 4–5: Model Training &amp; Evaluation  (runs in Colab from pre-computed features)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1 — 17 Linguistic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Grouped by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57784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996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Word-level 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Word length (number of characters)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Wikipedia log-frequency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557784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797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Sentence-level 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Sentence length (number of words)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23360"/>
            <a:ext cx="5577840" cy="34747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40599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 of Acquisition 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Mean AoA — at what age a word is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81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Std Dev AoA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03519"/>
            <a:ext cx="5577840" cy="347472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340095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Transition Prob (2)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8756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Forward P(word | prev word) from BNC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618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Backward P(word | next word) from BNC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63040"/>
            <a:ext cx="5577840" cy="347472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149961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Surprisal (3)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4708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Total surprisal = −log P(parse)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21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Lexical surprisal = −log P(word|context)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395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Syntactic surprisal = total − lexical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743200"/>
            <a:ext cx="5577840" cy="347472"/>
          </a:xfrm>
          <a:prstGeom prst="rect">
            <a:avLst/>
          </a:prstGeom>
          <a:solidFill>
            <a:srgbClr val="6B2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27797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Parsing (3)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2724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Entropy reduction (drop in prediction uncertainty)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01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Embedding depth (distance from word to parse root)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758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Embedding difference (depth change from prev word)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023360"/>
            <a:ext cx="5577840" cy="347472"/>
          </a:xfrm>
          <a:prstGeom prst="rect">
            <a:avLst/>
          </a:prstGeom>
          <a:solidFill>
            <a:srgbClr val="6B2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40599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Hierarchical (4+)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0740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8 binary left-corner parser memory ops (h1–h8)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81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• Encode constituent structure transitions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1 —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How the reading time model is 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3657600" cy="45720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636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Split
(Sentence Level)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57400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2,369 sentences split at sentence level
(not word level) to avoid data leakage
• 60% Train  (~1,421 sentences)
• 20% Dev    (~474 sentences)
• 20% Test   (~474 sentences)
Random seed =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508760"/>
            <a:ext cx="3657600" cy="45720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5636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057400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Ridge Regression
(scikit-learn, α = 1.0)
Features standardized with
StandardScaler fitted on
train set only
One model per RT measure
(FFD, FPD, RPD, TD)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3657600" cy="45720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56362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2057400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Key insight from the paper:
Very short predicted times → 0
(models word skipping)
Search T = 0 to 150 ms (step 5)
Pick T with best Dev R²
Apply same T on Test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7490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CA2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7490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5CA2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1 — Ablation Study (FFD, Dev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Feature importance — each row adds one feature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43000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4475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Features Added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4447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447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Paper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44475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10512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847088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Word 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4708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0.447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4708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0.267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18470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7AE60"/>
                </a:solidFill>
              </a:rPr>
              <a:t>+0.180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1143000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23113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231136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Sentence Length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23113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0.447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23113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23113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78608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1518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615184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Wikipedia Frequency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61518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1518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61518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62656"/>
            <a:ext cx="1143000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9992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999232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Mean AoA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99923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99923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99923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346704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38328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383280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Std Dev AoA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3832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38328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38328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730752"/>
            <a:ext cx="1143000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76732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3767328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Fwd/Bwd Transition Prob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37673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7673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7673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114800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15137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151376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Lexical Surprisal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41513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15137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0.568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41513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−0.062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498848"/>
            <a:ext cx="1143000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53542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4535424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Syntactic Surprisal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5354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45354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453542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−0.069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882896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91947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4919472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Entropy Reduction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0" y="49194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4919472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0.579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49194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−0.073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266944"/>
            <a:ext cx="1143000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0040" y="5303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" y="5303520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Embedding Depth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530352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5303520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0.580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530352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−0.074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5650992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568756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40" y="5687568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Embedding Difference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56875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0" y="568756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0.581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32720" y="56875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−0.074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035040"/>
            <a:ext cx="11430000" cy="38404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607161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" y="6071616"/>
            <a:ext cx="6675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+ Hierarchical (h1–h8)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0" y="6071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0" y="6071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0.585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32720" y="607161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0392B"/>
                </a:solidFill>
              </a:rPr>
              <a:t>−0.079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6446520"/>
            <a:ext cx="11430000" cy="320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64739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5A00"/>
                </a:solidFill>
              </a:rPr>
              <a:t>Key finding: Sentence length adds +0.233 R² in the paper but near zero in ours (r = −0.058) — a known Dundee preprocessing difference.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1 — 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R² on held-out test set vs paper Table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First Fixation
Duration (FFD)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76C"/>
                </a:solidFill>
              </a:rPr>
              <a:t>0.447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237744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76C"/>
                </a:solidFill>
              </a:rPr>
              <a:t>0.649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B2C"/>
                </a:solidFill>
              </a:rPr>
              <a:t>Gap: -0.202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46304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46304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First Pass
Duration (FPD)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76C"/>
                </a:solidFill>
              </a:rPr>
              <a:t>0.561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154680"/>
            <a:ext cx="237744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76C"/>
                </a:solidFill>
              </a:rPr>
              <a:t>0.600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B2C"/>
                </a:solidFill>
              </a:rPr>
              <a:t>Gap: -0.039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6304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46304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Regression Path
Duration (RPD)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76C"/>
                </a:solidFill>
              </a:rPr>
              <a:t>0.558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54680"/>
            <a:ext cx="237744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76C"/>
                </a:solidFill>
              </a:rPr>
              <a:t>0.570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6B2C"/>
                </a:solidFill>
              </a:rPr>
              <a:t>Gap: -0.012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463040"/>
            <a:ext cx="2743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1463040"/>
            <a:ext cx="274320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1490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Total Duration
(TD)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Our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4231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7AE60"/>
                </a:solidFill>
              </a:rPr>
              <a:t>0.538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3154680"/>
            <a:ext cx="2377440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Paper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520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76C"/>
                </a:solidFill>
              </a:rPr>
              <a:t>0.516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160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✓ Beat paper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455664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6B2A"/>
                </a:solidFill>
              </a:rPr>
              <a:t>FPD, RPD, TD all within 0.04 R² of the paper  ✓    FFD gap explained by Dundee preprocessing difference (see next slide).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FFD Gap — Why? (0.447 vs 0.649)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A reproducibility challenge, not a code bug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64008" cy="3200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What the paper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Sentence length alone contributes +0.233 R² to FFD prediction — the single largest feature contribution.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64008" cy="3200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What we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157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In our dataset, the correlation between sentence length and FFD is r = −0.058 (near zero). Adding sentence length changes R² by less than 0.001.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64008" cy="3200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Root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0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The Dundee corpus allows different averaging strategies: per-word average across all 10 subjects, mean over only fixating subjects, or full grid (0 for skipped words). The paper does not specify which they used — each produces a different correlation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64008" cy="3200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What we tried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445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We tested all four aggregation methods. None reproduces the paper's sent_len correlation. This is a known reproducibility issue in corpus-based reading time research.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20640"/>
            <a:ext cx="64008" cy="3200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Why the other measures are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589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FPD, RPD, and TD are within 0.04 R² because they are less sensitive to the averaging strategy. TD actually beats the paper (0.538 vs 0.516), showing the overall pipeline is correct.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2 — Readability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Which sentence is harder to read?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6C"/>
                </a:solidFill>
              </a:rPr>
              <a:t>Task: Given a sentence from Wikipedia and one from Simple Wikipedia — classify which is harder.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Dataset: 117,712 aligned pairs  →  235,424 instances (both orderings of each pair included)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514600"/>
            <a:ext cx="3657600" cy="438912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542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Base RT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99232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1. Take each sentence in a pair
2. Predict per-word FFD using System 1
3. Pad to 60 words → 60-dim vector per sentence
4. Concatenate both → 120-dim feature vector
5. Train Logistic Regression
6. 10-fold stratified cross-validation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51460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514600"/>
            <a:ext cx="3657600" cy="438912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2542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Extended RT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999232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Same as Base RT, plus extra features:
• Sentence length (both sentences)
• Mean predicted FFD / sentence
• Sum of predicted FFD / sentence
Feature vector: 120 + 6 = 126 dimensions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251460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2514600"/>
            <a:ext cx="3657600" cy="438912"/>
          </a:xfrm>
          <a:prstGeom prst="rect">
            <a:avLst/>
          </a:prstGeom>
          <a:solidFill>
            <a:srgbClr val="6B27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2542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999232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10-fold stratified K-fold CV
on 235,424 instances
Both orderings included so
the model can't cheat by
position
Metric: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2 — 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Accuracy vs paper Table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463040"/>
            <a:ext cx="941832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490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90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Our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904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Paper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90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65960"/>
            <a:ext cx="94183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103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76C"/>
                </a:solidFill>
              </a:rPr>
              <a:t>Base RT
(Logistic Regression)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31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7AE60"/>
                </a:solidFill>
              </a:rPr>
              <a:t>72.41%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76C"/>
                </a:solidFill>
              </a:rPr>
              <a:t>73.82%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B2C"/>
                </a:solidFill>
              </a:rPr>
              <a:t>−1.41%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794760"/>
            <a:ext cx="941832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76C"/>
                </a:solidFill>
              </a:rPr>
              <a:t>Extended RT
(Logistic Regression)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7AE60"/>
                </a:solidFill>
              </a:rPr>
              <a:t>72.59%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76C"/>
                </a:solidFill>
              </a:rPr>
              <a:t>75.21%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86B2C"/>
                </a:solidFill>
              </a:rPr>
              <a:t>−2.62%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669280"/>
            <a:ext cx="9418320" cy="77724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7424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2A"/>
                </a:solidFill>
              </a:rPr>
              <a:t>Both models are within 1.5–2.6% of the paper.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0533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6B2A"/>
                </a:solidFill>
              </a:rPr>
              <a:t>The gap scales with System 1 FFD quality — if FFD improves, System 2 will improve proportionally.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E8"/>
                </a:solidFill>
              </a:rPr>
              <a:t>What the replication shows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146304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3619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FPD, RPD, TD match the paper closely (within 0.04 R²), confirming the overall feature pipeline is correctly implemented.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57984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2121408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Total Duration (TD) actually beats the paper: 0.538 vs 0.516 — our pipeline performs better on this measure.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79776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1635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2779776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5292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System 2 is within 1.5% of the paper (72.41% vs 73.82%), showing the readability classifier is well replicated.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502920" cy="5029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47472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3438144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11296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FFD R² gap (0.447 vs 0.649) is due to Dundee corpus preprocessing ambiguity — not a feature or model error.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96511"/>
            <a:ext cx="502920" cy="5029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33087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" y="4096511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69663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Sentence length has near-zero correlation with FFD in our data (r = −0.058), unlike the paper's claimed +0.233 R² contribution.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54879"/>
            <a:ext cx="502920" cy="502920"/>
          </a:xfrm>
          <a:prstGeom prst="rect">
            <a:avLst/>
          </a:prstGeom>
          <a:solidFill>
            <a:srgbClr val="275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91455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754879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28031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This is a known challenge in corpus-based psycholinguistics: small preprocessing differences change correlation structure significantly.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143000"/>
            <a:ext cx="8531352" cy="45720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371600"/>
            <a:ext cx="4114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0817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Successfully replicated Singh et al. (2016)'s two-system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938528"/>
            <a:ext cx="4114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7510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System 1: FPD / RPD / TD within 0.04 R² — TD beats the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505456"/>
            <a:ext cx="4114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2374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54203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System 2: Within 1.5% accuracy of the paper on 117K sentence pairs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072384"/>
            <a:ext cx="4114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906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1089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FFD gap documented and explained as a reproducibility challenge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39312"/>
            <a:ext cx="411480" cy="384048"/>
          </a:xfrm>
          <a:prstGeom prst="rect">
            <a:avLst/>
          </a:prstGeom>
          <a:solidFill>
            <a:srgbClr val="E86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65760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6758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Full code, datasets, and Colab notebook publicly available on GitHub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572000"/>
            <a:ext cx="9445752" cy="45720"/>
          </a:xfrm>
          <a:prstGeom prst="rect">
            <a:avLst/>
          </a:prstGeom>
          <a:solidFill>
            <a:srgbClr val="4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60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B8D8"/>
                </a:solidFill>
              </a:rPr>
              <a:t>GitHub Repository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2920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80"/>
                </a:solidFill>
              </a:rPr>
              <a:t>github.com/BhagyalaxmiPandiyan/sentence-complexity-eyetracking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A0C0"/>
                </a:solidFill>
              </a:rPr>
              <a:t>Singh, Bhatt, Bhatt &amp; Srikant (2016). Quantifying Sentence Complexity Based on Eye-Tracking Measures.
EMNLP Workshop on Uphill Battles in NLP, pp. 46–50.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