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8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6243" y="2057399"/>
            <a:ext cx="10278291" cy="1362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sz="3200" b="1" i="0" dirty="0" smtClean="0">
                <a:solidFill>
                  <a:srgbClr val="FFFFFF"/>
                </a:solidFill>
                <a:latin typeface="Calibri"/>
              </a:rPr>
              <a:t>Quantifying Sentence Complexity based on eye-tracking measures</a:t>
            </a:r>
            <a:r>
              <a:rPr lang="en-US" sz="3800" b="1" i="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3800" b="1" i="0" dirty="0" smtClean="0">
                <a:solidFill>
                  <a:srgbClr val="FFFFFF"/>
                </a:solidFill>
                <a:latin typeface="Calibri"/>
              </a:rPr>
            </a:br>
            <a:r>
              <a:rPr b="1" i="0" dirty="0" smtClean="0">
                <a:solidFill>
                  <a:srgbClr val="FFFFFF"/>
                </a:solidFill>
                <a:latin typeface="Calibri"/>
              </a:rPr>
              <a:t>Enhancing 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Reading-Time </a:t>
            </a:r>
            <a:r>
              <a:rPr b="1" i="0" dirty="0" smtClean="0">
                <a:solidFill>
                  <a:srgbClr val="FFFFFF"/>
                </a:solidFill>
                <a:latin typeface="Calibri"/>
              </a:rPr>
              <a:t>Prediction</a:t>
            </a:r>
            <a:r>
              <a:rPr lang="en-US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smtClean="0">
                <a:solidFill>
                  <a:srgbClr val="FFFFFF"/>
                </a:solidFill>
                <a:latin typeface="Calibri"/>
              </a:rPr>
              <a:t>with 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GPT-2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Surprisal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3822191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 dirty="0">
                <a:solidFill>
                  <a:srgbClr val="C7D3E8"/>
                </a:solidFill>
                <a:latin typeface="Calibri"/>
              </a:rPr>
              <a:t>Replication of Singh et al. (2016)   +   GPT-2 Enhancement   +   Next Steps for Tamil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709160"/>
            <a:ext cx="2127808" cy="384048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1 · REPLICATION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9096" y="4709160"/>
            <a:ext cx="2605125" cy="384048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GPT-2 ENHANCEMENT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390" y="4709160"/>
            <a:ext cx="2525572" cy="384048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3 · TAMIL (PROPOSED)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6080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82A8"/>
                </a:solidFill>
                <a:latin typeface="Calibri"/>
              </a:rPr>
              <a:t>Bhagyalaxmi Pandiyan   |   Progress Meeting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Recap: What We Replicated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Singh et al. (2016) — predicting reading time &amp; readability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954" y="347472"/>
            <a:ext cx="2269540" cy="347472"/>
          </a:xfrm>
          <a:prstGeom prst="roundRect">
            <a:avLst>
              <a:gd name="adj" fmla="val 50000"/>
            </a:avLst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1 · REPLICATION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4924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82296" cy="352044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8952" y="1673352"/>
            <a:ext cx="457200" cy="457200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19072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5FA3"/>
                </a:solidFill>
                <a:latin typeface="Calibri"/>
              </a:rPr>
              <a:t>System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7568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Reading-Time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51760"/>
            <a:ext cx="4709159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2E5FA3"/>
                </a:solidFill>
                <a:latin typeface="Calibri"/>
              </a:rPr>
              <a:t>▸  </a:t>
            </a:r>
            <a:r>
              <a:rPr sz="1350" b="0">
                <a:solidFill>
                  <a:srgbClr val="5B6B82"/>
                </a:solidFill>
                <a:latin typeface="Calibri"/>
              </a:rPr>
              <a:t>Predicts </a:t>
            </a:r>
            <a:r>
              <a:rPr sz="1350" b="1">
                <a:solidFill>
                  <a:srgbClr val="5B6B82"/>
                </a:solidFill>
                <a:latin typeface="Calibri"/>
              </a:rPr>
              <a:t>4 eye-tracking measures</a:t>
            </a:r>
            <a:r>
              <a:rPr sz="1350" b="0">
                <a:solidFill>
                  <a:srgbClr val="5B6B82"/>
                </a:solidFill>
                <a:latin typeface="Calibri"/>
              </a:rPr>
              <a:t> per word: FFD, FPD, RPD, TD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2E5FA3"/>
                </a:solidFill>
                <a:latin typeface="Calibri"/>
              </a:rPr>
              <a:t>▸  </a:t>
            </a:r>
            <a:r>
              <a:rPr sz="1350" b="0">
                <a:solidFill>
                  <a:srgbClr val="5B6B82"/>
                </a:solidFill>
                <a:latin typeface="Calibri"/>
              </a:rPr>
              <a:t>Uses linguistic features — word length, frequency, age of acquisition, surprisal, syntactic 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199" y="1417320"/>
            <a:ext cx="5349240" cy="3520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199" y="1417320"/>
            <a:ext cx="82296" cy="35204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28231" y="1673352"/>
            <a:ext cx="457200" cy="45720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719072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6B3FA0"/>
                </a:solidFill>
                <a:latin typeface="Calibri"/>
              </a:rPr>
              <a:t>System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207568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Readability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39" y="2651760"/>
            <a:ext cx="4709159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6B3FA0"/>
                </a:solidFill>
                <a:latin typeface="Calibri"/>
              </a:rPr>
              <a:t>▸  </a:t>
            </a:r>
            <a:r>
              <a:rPr sz="1350" b="0">
                <a:solidFill>
                  <a:srgbClr val="5B6B82"/>
                </a:solidFill>
                <a:latin typeface="Calibri"/>
              </a:rPr>
              <a:t>Classifies which of </a:t>
            </a:r>
            <a:r>
              <a:rPr sz="1350" b="1">
                <a:solidFill>
                  <a:srgbClr val="5B6B82"/>
                </a:solidFill>
                <a:latin typeface="Calibri"/>
              </a:rPr>
              <a:t>two parallel sentences</a:t>
            </a:r>
            <a:r>
              <a:rPr sz="1350" b="0">
                <a:solidFill>
                  <a:srgbClr val="5B6B82"/>
                </a:solidFill>
                <a:latin typeface="Calibri"/>
              </a:rPr>
              <a:t> (Wikipedia vs. Simple-Wikipedia) is harder to read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50" b="1">
                <a:solidFill>
                  <a:srgbClr val="6B3FA0"/>
                </a:solidFill>
                <a:latin typeface="Calibri"/>
              </a:rPr>
              <a:t>▸  </a:t>
            </a:r>
            <a:r>
              <a:rPr sz="1350" b="0">
                <a:solidFill>
                  <a:srgbClr val="5B6B82"/>
                </a:solidFill>
                <a:latin typeface="Calibri"/>
              </a:rPr>
              <a:t>Uses System 1's predicted reading times as an input feature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12080"/>
            <a:ext cx="3550919" cy="777240"/>
          </a:xfrm>
          <a:prstGeom prst="roundRect">
            <a:avLst>
              <a:gd name="adj" fmla="val 4500"/>
            </a:avLst>
          </a:prstGeom>
          <a:solidFill>
            <a:srgbClr val="EEF1F7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266944"/>
            <a:ext cx="3550919" cy="4251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B3A6B"/>
                </a:solidFill>
                <a:latin typeface="Calibri"/>
              </a:rPr>
              <a:t>50,647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92140"/>
            <a:ext cx="3550919" cy="260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B82"/>
                </a:solidFill>
                <a:latin typeface="Calibri"/>
              </a:rPr>
              <a:t>word positions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5212080"/>
            <a:ext cx="3550919" cy="777240"/>
          </a:xfrm>
          <a:prstGeom prst="roundRect">
            <a:avLst>
              <a:gd name="adj" fmla="val 4500"/>
            </a:avLst>
          </a:prstGeom>
          <a:solidFill>
            <a:srgbClr val="EEF1F7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36720" y="5266944"/>
            <a:ext cx="3550919" cy="4251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B3A6B"/>
                </a:solidFill>
                <a:latin typeface="Calibri"/>
              </a:rPr>
              <a:t>2,378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6720" y="5692140"/>
            <a:ext cx="3550919" cy="260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B82"/>
                </a:solidFill>
                <a:latin typeface="Calibri"/>
              </a:rPr>
              <a:t>sentences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0519" y="5212080"/>
            <a:ext cx="3550919" cy="777240"/>
          </a:xfrm>
          <a:prstGeom prst="roundRect">
            <a:avLst>
              <a:gd name="adj" fmla="val 4500"/>
            </a:avLst>
          </a:prstGeom>
          <a:solidFill>
            <a:srgbClr val="EEF1F7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0519" y="5266944"/>
            <a:ext cx="3550919" cy="4251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B3A6B"/>
                </a:solidFill>
                <a:latin typeface="Calibri"/>
              </a:rPr>
              <a:t>10 ×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0519" y="5692140"/>
            <a:ext cx="3550919" cy="260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B82"/>
                </a:solidFill>
                <a:latin typeface="Calibri"/>
              </a:rPr>
              <a:t>subjects × newspaper texts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We Turned to GPT-2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The paper's own syntactic-surprisal feature carries no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49079" y="347472"/>
            <a:ext cx="2185415" cy="347472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03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0392B"/>
                </a:solidFill>
                <a:latin typeface="Calibri"/>
              </a:rPr>
              <a:t>r = −0.017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C0392B"/>
                </a:solidFill>
                <a:latin typeface="Calibri"/>
              </a:rPr>
              <a:t>correlation between syn_surprisal and FFD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17320"/>
            <a:ext cx="5806440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62763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3A6B"/>
                </a:solidFill>
                <a:latin typeface="Calibri"/>
              </a:rPr>
              <a:t>Cross-checked against the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2996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Paper's own Table 1 reports: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95728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3A6B"/>
                </a:solidFill>
                <a:latin typeface="Calibri"/>
              </a:rPr>
              <a:t>r = −0.067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9260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Nearly identical — confirms this is a real property of the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feature, not a bug in our pipeline.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10642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1E7A45"/>
                </a:solidFill>
                <a:latin typeface="Calibri"/>
              </a:rPr>
              <a:t>▸  </a:t>
            </a:r>
            <a:r>
              <a:rPr sz="1450" b="0">
                <a:solidFill>
                  <a:srgbClr val="5B6B82"/>
                </a:solidFill>
                <a:latin typeface="Calibri"/>
              </a:rPr>
              <a:t>Reproduced the incremental left-corner parser (van Schijndel et al. 2013) </a:t>
            </a:r>
            <a:r>
              <a:rPr sz="1450" b="1">
                <a:solidFill>
                  <a:srgbClr val="5B6B82"/>
                </a:solidFill>
                <a:latin typeface="Calibri"/>
              </a:rPr>
              <a:t>faithfully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1E7A45"/>
                </a:solidFill>
                <a:latin typeface="Calibri"/>
              </a:rPr>
              <a:t>▸  </a:t>
            </a:r>
            <a:r>
              <a:rPr sz="1450" b="0">
                <a:solidFill>
                  <a:srgbClr val="5B6B82"/>
                </a:solidFill>
                <a:latin typeface="Calibri"/>
              </a:rPr>
              <a:t>Correlation with reading time is essentially zero in both replications — a real property of the feature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50" b="1">
                <a:solidFill>
                  <a:srgbClr val="1E7A45"/>
                </a:solidFill>
                <a:latin typeface="Calibri"/>
              </a:rPr>
              <a:t>▸  </a:t>
            </a:r>
            <a:r>
              <a:rPr sz="1450" b="0">
                <a:solidFill>
                  <a:srgbClr val="5B6B82"/>
                </a:solidFill>
                <a:latin typeface="Calibri"/>
              </a:rPr>
              <a:t>Open question this motivated: </a:t>
            </a:r>
            <a:r>
              <a:rPr sz="1450" b="1">
                <a:solidFill>
                  <a:srgbClr val="5B6B82"/>
                </a:solidFill>
                <a:latin typeface="Calibri"/>
              </a:rPr>
              <a:t>could a modern language model's surprisal do better than a hand-built parser's?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Swap syntactic surprisal for GPT-2 surprisal — nothing else in the pipeline touched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85578" y="347472"/>
            <a:ext cx="1848916" cy="347472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04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62556" y="1911095"/>
            <a:ext cx="475488" cy="47548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E5FA3"/>
                </a:solidFill>
                <a:latin typeface="Calibri"/>
              </a:rPr>
              <a:t>Compute GPT-2 Surprisal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898648"/>
            <a:ext cx="2843784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Per word, using up to 3 preceding sentences as context</a:t>
            </a:r>
          </a:p>
        </p:txBody>
      </p:sp>
      <p:sp>
        <p:nvSpPr>
          <p:cNvPr id="15" name="Chevron 14"/>
          <p:cNvSpPr/>
          <p:nvPr/>
        </p:nvSpPr>
        <p:spPr>
          <a:xfrm>
            <a:off x="4078223" y="3159252"/>
            <a:ext cx="393192" cy="310896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79" y="214884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11596" y="1911095"/>
            <a:ext cx="475488" cy="475488"/>
          </a:xfrm>
          <a:prstGeom prst="ellipse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44144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7A45"/>
                </a:solidFill>
                <a:latin typeface="Calibri"/>
              </a:rPr>
              <a:t>Swap the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898648"/>
            <a:ext cx="2843784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Replace syn_surprisal with gpt2_surprisal in the existing 19-feature model</a:t>
            </a:r>
          </a:p>
        </p:txBody>
      </p:sp>
      <p:sp>
        <p:nvSpPr>
          <p:cNvPr id="20" name="Chevron 19"/>
          <p:cNvSpPr/>
          <p:nvPr/>
        </p:nvSpPr>
        <p:spPr>
          <a:xfrm>
            <a:off x="7827264" y="3159252"/>
            <a:ext cx="393192" cy="310896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19" y="214884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60636" y="1911095"/>
            <a:ext cx="475488" cy="475488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44144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B3A6B"/>
                </a:solidFill>
                <a:latin typeface="Calibri"/>
              </a:rPr>
              <a:t>Retrain &amp; 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898648"/>
            <a:ext cx="2843784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Same 60/20/20 sentence-level split, same Ridge regression, tested on all 4 RT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B6B82"/>
                </a:solidFill>
                <a:latin typeface="Calibri"/>
              </a:rPr>
              <a:t>No other part of the pipeline was touched — an isolated, controlled swap.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Results: GPT-2 vs. Baseline vs.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Table 3 comparison — Test R² by reading-time measure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0205" y="347472"/>
            <a:ext cx="2774289" cy="347472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RESULTS (TABLE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05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50876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Baseline (syn_surprisal)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+ GPT-2 surprisal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Paper (Singh et al.)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4314F"/>
                          </a:solidFill>
                          <a:latin typeface="Calibri"/>
                        </a:rPr>
                        <a:t>FFD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C77700"/>
                          </a:solidFill>
                          <a:latin typeface="Calibri"/>
                        </a:rPr>
                        <a:t>0.458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0.649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4314F"/>
                          </a:solidFill>
                          <a:latin typeface="Calibri"/>
                        </a:rPr>
                        <a:t>FPD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0.558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5"/>
                          </a:solidFill>
                          <a:latin typeface="Calibri"/>
                        </a:rPr>
                        <a:t>0.583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4314F"/>
                          </a:solidFill>
                          <a:latin typeface="Calibri"/>
                        </a:rPr>
                        <a:t>RPD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0.555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5"/>
                          </a:solidFill>
                          <a:latin typeface="Calibri"/>
                        </a:rPr>
                        <a:t>0.582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0.570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4314F"/>
                          </a:solidFill>
                          <a:latin typeface="Calibri"/>
                        </a:rPr>
                        <a:t>TD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0.536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E7A45"/>
                          </a:solidFill>
                          <a:latin typeface="Calibri"/>
                        </a:rPr>
                        <a:t>0.568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14F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406908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127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206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7A45"/>
                </a:solidFill>
                <a:latin typeface="Calibri"/>
              </a:rPr>
              <a:t>RPD and TD now beat the paper outright. FPD is within 0.017. Only FFD still trails — but it improved too (0.444 → 0.458).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6B82"/>
                </a:solidFill>
                <a:latin typeface="Calibri"/>
              </a:rPr>
              <a:t>The pattern makes sense: FFD is a single brief first glance, while FPD/RPD/TD integrate more reading behavior — more room for a richer predictability signal like GPT-2's to help.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Feature Quality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Making sure GPT-2 surprisal is genuine new signal, not noise or a shortcut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76080" y="347472"/>
            <a:ext cx="2858414" cy="347472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FEATURE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06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E4F4EA"/>
          </a:solidFill>
          <a:ln w="127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19072"/>
            <a:ext cx="47091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7A45"/>
                </a:solidFill>
                <a:latin typeface="Calibri"/>
              </a:rPr>
              <a:t>✓  Not Redundant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4709159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1E7A45"/>
                </a:solidFill>
                <a:latin typeface="Calibri"/>
              </a:rPr>
              <a:t>▸  </a:t>
            </a:r>
            <a:r>
              <a:rPr sz="1300" b="1">
                <a:solidFill>
                  <a:srgbClr val="24314F"/>
                </a:solidFill>
                <a:latin typeface="Calibri"/>
              </a:rPr>
              <a:t>r(gpt2_surprisal, syn_surprisal) = 0.014</a:t>
            </a:r>
            <a:r>
              <a:rPr sz="1300" b="0">
                <a:solidFill>
                  <a:srgbClr val="24314F"/>
                </a:solidFill>
                <a:latin typeface="Calibri"/>
              </a:rPr>
              <a:t> — essentially zero, genuinely new signal, not a duplicate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1E7A45"/>
                </a:solidFill>
                <a:latin typeface="Calibri"/>
              </a:rPr>
              <a:t>▸  </a:t>
            </a:r>
            <a:r>
              <a:rPr sz="1300" b="0">
                <a:solidFill>
                  <a:srgbClr val="24314F"/>
                </a:solidFill>
                <a:latin typeface="Calibri"/>
              </a:rPr>
              <a:t>Moderate, expected overlap with lex_surprisal (0.56), wiki_freq (−0.65), aoa_mean (0.54)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146304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CF1DF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1719072"/>
            <a:ext cx="47091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77700"/>
                </a:solidFill>
                <a:latin typeface="Calibri"/>
              </a:rPr>
              <a:t>⚠  A Trap We Avoided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39" y="2377440"/>
            <a:ext cx="4709159" cy="2377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C77700"/>
                </a:solidFill>
                <a:latin typeface="Calibri"/>
              </a:rPr>
              <a:t>▸  </a:t>
            </a:r>
            <a:r>
              <a:rPr sz="1300" b="1">
                <a:solidFill>
                  <a:srgbClr val="24314F"/>
                </a:solidFill>
                <a:latin typeface="Calibri"/>
              </a:rPr>
              <a:t>gpt2_sum</a:t>
            </a:r>
            <a:r>
              <a:rPr sz="1300" b="0">
                <a:solidFill>
                  <a:srgbClr val="24314F"/>
                </a:solidFill>
                <a:latin typeface="Calibri"/>
              </a:rPr>
              <a:t> (sentence-level total) correlates </a:t>
            </a:r>
            <a:r>
              <a:rPr sz="1300" b="1">
                <a:solidFill>
                  <a:srgbClr val="24314F"/>
                </a:solidFill>
                <a:latin typeface="Calibri"/>
              </a:rPr>
              <a:t>0.914</a:t>
            </a:r>
            <a:r>
              <a:rPr sz="1300" b="0">
                <a:solidFill>
                  <a:srgbClr val="24314F"/>
                </a:solidFill>
                <a:latin typeface="Calibri"/>
              </a:rPr>
              <a:t> with sentence length — it's just a length proxy in disguise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300" b="1">
                <a:solidFill>
                  <a:srgbClr val="C77700"/>
                </a:solidFill>
                <a:latin typeface="Calibri"/>
              </a:rPr>
              <a:t>▸  </a:t>
            </a:r>
            <a:r>
              <a:rPr sz="1300" b="0">
                <a:solidFill>
                  <a:srgbClr val="24314F"/>
                </a:solidFill>
                <a:latin typeface="Calibri"/>
              </a:rPr>
              <a:t>Used </a:t>
            </a:r>
            <a:r>
              <a:rPr sz="1300" b="1">
                <a:solidFill>
                  <a:srgbClr val="24314F"/>
                </a:solidFill>
                <a:latin typeface="Calibri"/>
              </a:rPr>
              <a:t>gpt2_mean</a:t>
            </a:r>
            <a:r>
              <a:rPr sz="1300" b="0">
                <a:solidFill>
                  <a:srgbClr val="24314F"/>
                </a:solidFill>
                <a:latin typeface="Calibri"/>
              </a:rPr>
              <a:t> instead — correlates 0.45–0.53 with all 4 RT measures, a clean predictability signal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Ruling Out a Wrong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Scientific rigor: not every theory survives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8455" y="347472"/>
            <a:ext cx="2606039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NEGATIVE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07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62556" y="1499616"/>
            <a:ext cx="475488" cy="475488"/>
          </a:xfrm>
          <a:prstGeom prst="ellipse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2996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E5FA3"/>
                </a:solidFill>
                <a:latin typeface="Calibri"/>
              </a:rPr>
              <a:t>Theory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487168"/>
            <a:ext cx="28437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Skipped words get RT = 0, inflating word length's predictive power (a “ceiling effect”)</a:t>
            </a:r>
          </a:p>
        </p:txBody>
      </p:sp>
      <p:sp>
        <p:nvSpPr>
          <p:cNvPr id="15" name="Chevron 14"/>
          <p:cNvSpPr/>
          <p:nvPr/>
        </p:nvSpPr>
        <p:spPr>
          <a:xfrm>
            <a:off x="4078223" y="2839212"/>
            <a:ext cx="393192" cy="310896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26279" y="173736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11596" y="1499616"/>
            <a:ext cx="475488" cy="475488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02996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C77700"/>
                </a:solidFill>
                <a:latin typeface="Calibri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487168"/>
            <a:ext cx="28437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Filtered to fixated-only words (excluding skips) and retrained the model</a:t>
            </a:r>
          </a:p>
        </p:txBody>
      </p:sp>
      <p:sp>
        <p:nvSpPr>
          <p:cNvPr id="20" name="Chevron 19"/>
          <p:cNvSpPr/>
          <p:nvPr/>
        </p:nvSpPr>
        <p:spPr>
          <a:xfrm>
            <a:off x="7827264" y="2839212"/>
            <a:ext cx="393192" cy="310896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275319" y="173736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60636" y="1499616"/>
            <a:ext cx="475488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029967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C0392B"/>
                </a:solidFill>
                <a:latin typeface="Calibri"/>
              </a:rPr>
              <a:t>Disproven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487168"/>
            <a:ext cx="2843784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B82"/>
                </a:solidFill>
                <a:latin typeface="Calibri"/>
              </a:rPr>
              <a:t>Zero rows have RT = 0 in word-averaged data (min FFD = 5.1ms). Fixated-only and all-words gave identical R².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B6B82"/>
                </a:solidFill>
                <a:latin typeface="Calibri"/>
              </a:rPr>
              <a:t>Corrected earlier documentation accordingly — the real cause needed a fresh hypothesis.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System 2 Reconfirmed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Readability classification beats the paper on all 4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0205" y="347472"/>
            <a:ext cx="2774289" cy="347472"/>
          </a:xfrm>
          <a:prstGeom prst="roundRect">
            <a:avLst>
              <a:gd name="adj" fmla="val 50000"/>
            </a:avLst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2 · RESULTS (TABLE 5)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08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91640" y="1508760"/>
          <a:ext cx="8778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127000" marR="127000" marT="50800" marB="50800"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14F"/>
                          </a:solidFill>
                          <a:latin typeface="Calibri"/>
                        </a:rPr>
                        <a:t>Base RT (Pairwise)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7A45"/>
                          </a:solidFill>
                          <a:latin typeface="Calibri"/>
                        </a:rPr>
                        <a:t>74.15%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4314F"/>
                          </a:solidFill>
                          <a:latin typeface="Calibri"/>
                        </a:rPr>
                        <a:t>73.82%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14F"/>
                          </a:solidFill>
                          <a:latin typeface="Calibri"/>
                        </a:rPr>
                        <a:t>Base RT (SVMrank)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7A45"/>
                          </a:solidFill>
                          <a:latin typeface="Calibri"/>
                        </a:rPr>
                        <a:t>74.13%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4314F"/>
                          </a:solidFill>
                          <a:latin typeface="Calibri"/>
                        </a:rPr>
                        <a:t>73.79%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14F"/>
                          </a:solidFill>
                          <a:latin typeface="Calibri"/>
                        </a:rPr>
                        <a:t>Extended RT (Pairwise)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7A45"/>
                          </a:solidFill>
                          <a:latin typeface="Calibri"/>
                        </a:rPr>
                        <a:t>75.26%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4314F"/>
                          </a:solidFill>
                          <a:latin typeface="Calibri"/>
                        </a:rPr>
                        <a:t>75.21%</a:t>
                      </a:r>
                    </a:p>
                  </a:txBody>
                  <a:tcPr marL="127000" marR="1270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314F"/>
                          </a:solidFill>
                          <a:latin typeface="Calibri"/>
                        </a:rPr>
                        <a:t>Extended RT (SVMrank)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7A45"/>
                          </a:solidFill>
                          <a:latin typeface="Calibri"/>
                        </a:rPr>
                        <a:t>75.23%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4314F"/>
                          </a:solidFill>
                          <a:latin typeface="Calibri"/>
                        </a:rPr>
                        <a:t>75.09%</a:t>
                      </a:r>
                    </a:p>
                  </a:txBody>
                  <a:tcPr marL="127000" marR="127000" marT="50800" marB="50800" anchor="ctr"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691640" y="4069080"/>
            <a:ext cx="8778240" cy="777240"/>
          </a:xfrm>
          <a:prstGeom prst="roundRect">
            <a:avLst>
              <a:gd name="adj" fmla="val 8000"/>
            </a:avLst>
          </a:prstGeom>
          <a:solidFill>
            <a:srgbClr val="E4F4EA"/>
          </a:solidFill>
          <a:ln w="127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418795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7A45"/>
                </a:solidFill>
                <a:latin typeface="Calibri"/>
              </a:rPr>
              <a:t>System 2 beats the paper on all 4 metrics — effectively solved.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507492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6B82"/>
                </a:solidFill>
                <a:latin typeface="Calibri"/>
              </a:rPr>
              <a:t>Further effort here has diminishing returns — the downstream task that actually uses these predictions is solid.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07127" y="23317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3 ·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What's Next: Extending This Work to Tamil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1188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7D3E8"/>
                </a:solidFill>
                <a:latin typeface="Calibri"/>
              </a:rPr>
              <a:t>A morphology-aware complexity metric for an agglutinative, low-resource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8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8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Tamil?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Checked the literature before committing — this is a genuine, unclaimed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49079" y="347472"/>
            <a:ext cx="2185415" cy="347472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3 ·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10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11155680" cy="896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7240" y="1682496"/>
            <a:ext cx="365760" cy="36576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27048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3FA0"/>
                </a:solidFill>
                <a:latin typeface="Calibri"/>
              </a:rPr>
              <a:t>No Tamil eye-tracking 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37944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There is no Tamil eye-tracking-while-reading corpus — even MultiplEYE, the main multilingual eye-tracking effort, doesn't cover Tamil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78024"/>
            <a:ext cx="11155680" cy="896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87752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3FA0"/>
                </a:solidFill>
                <a:latin typeface="Calibri"/>
              </a:rPr>
              <a:t>No Tamil readability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98648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No Tamil readability/complexity dataset or classifier exists in DravidianLangTech, the main Tamil NLP workshop.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38728"/>
            <a:ext cx="11155680" cy="896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3803904"/>
            <a:ext cx="365760" cy="365760"/>
          </a:xfrm>
          <a:prstGeom prst="ellipse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48456"/>
            <a:ext cx="9966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3FA0"/>
                </a:solidFill>
                <a:latin typeface="Calibri"/>
              </a:rPr>
              <a:t>Closest precedent, not a duplicate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59352"/>
            <a:ext cx="9966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A 2023 ML readability model for Gujarati proves this approach is publishable for an Indic language — just not yet done for Tamil.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45152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0E9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3FA0"/>
                </a:solidFill>
                <a:latin typeface="Calibri"/>
              </a:rPr>
              <a:t>Genuine gap + reusable pipeline from this thesis = natural, achievable extension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New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Not a straight port — a genuinely new linguistic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17328" y="347472"/>
            <a:ext cx="2017166" cy="347472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3 ·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11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49240" cy="2606040"/>
          </a:xfrm>
          <a:prstGeom prst="roundRect">
            <a:avLst>
              <a:gd name="adj" fmla="val 6000"/>
            </a:avLst>
          </a:prstGeom>
          <a:solidFill>
            <a:srgbClr val="E8F0FA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184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E5FA3"/>
                </a:solidFill>
                <a:latin typeface="Calibri"/>
              </a:rPr>
              <a:t>English (this thesis)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4314F"/>
                </a:solidFill>
                <a:latin typeface="Calibri"/>
              </a:rPr>
              <a:t>Word length is already an </a:t>
            </a:r>
            <a:r>
              <a:rPr sz="1250" b="1">
                <a:solidFill>
                  <a:srgbClr val="24314F"/>
                </a:solidFill>
                <a:latin typeface="Calibri"/>
              </a:rPr>
              <a:t>unstable complexity proxy</a:t>
            </a:r>
            <a:r>
              <a:rPr sz="1250" b="0">
                <a:solidFill>
                  <a:srgbClr val="24314F"/>
                </a:solidFill>
                <a:latin typeface="Calibri"/>
              </a:rPr>
              <a:t> — the paper's own Table 1 vs. Table 2 numbers for word length are internally inconsistent (our finding).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1417320"/>
            <a:ext cx="5349240" cy="2606040"/>
          </a:xfrm>
          <a:prstGeom prst="roundRect">
            <a:avLst>
              <a:gd name="adj" fmla="val 6000"/>
            </a:avLst>
          </a:prstGeom>
          <a:solidFill>
            <a:srgbClr val="F0E9F8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19" y="161848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6B3FA0"/>
                </a:solidFill>
                <a:latin typeface="Calibri"/>
              </a:rPr>
              <a:t>Tamil (proposed)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2103120"/>
            <a:ext cx="4800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4314F"/>
                </a:solidFill>
                <a:latin typeface="Calibri"/>
              </a:rPr>
              <a:t>Tamil is </a:t>
            </a:r>
            <a:r>
              <a:rPr sz="1250" b="1">
                <a:solidFill>
                  <a:srgbClr val="24314F"/>
                </a:solidFill>
                <a:latin typeface="Calibri"/>
              </a:rPr>
              <a:t>agglutinative</a:t>
            </a:r>
            <a:r>
              <a:rPr sz="1250" b="0">
                <a:solidFill>
                  <a:srgbClr val="24314F"/>
                </a:solidFill>
                <a:latin typeface="Calibri"/>
              </a:rPr>
              <a:t> — one word can carry what English spreads across a full clause. Word length is likely an even worse proxy — morphemes may be the right unit instead.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97680"/>
            <a:ext cx="11155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B3FA0"/>
                </a:solidFill>
                <a:latin typeface="Calibri"/>
              </a:rPr>
              <a:t>The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B82"/>
                </a:solidFill>
                <a:latin typeface="Calibri"/>
              </a:rPr>
              <a:t>Build a morphology-aware complexity metric using the open-source ThamizhiMorph analyzer, and use it to drive and evaluate an LLM-based Tamil sentence simplifier, validated against human judgments.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8899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Why This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8899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7D3E8"/>
                </a:solidFill>
                <a:latin typeface="Calibri"/>
              </a:rPr>
              <a:t>Achievable, and genuinely new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33204" y="347472"/>
            <a:ext cx="2101291" cy="347472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PHASE 3 · RATIONALE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185855" cy="10972"/>
          </a:xfrm>
          <a:prstGeom prst="rect">
            <a:avLst/>
          </a:prstGeom>
          <a:solidFill>
            <a:srgbClr val="D8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Bhagyalaxmi Pandiyan  |  Sentence Complexity Prediction via Eye-Tracking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7AC"/>
                </a:solidFill>
                <a:latin typeface="Calibri"/>
              </a:rPr>
              <a:t>12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417320"/>
            <a:ext cx="82296" cy="141732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56362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5FA3"/>
                </a:solidFill>
                <a:latin typeface="Calibri"/>
              </a:rPr>
              <a:t>Reuses Existing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Directly reuses the GPT-2 surprisal pipeline already built — not starting from scratch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41732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E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79" y="1417320"/>
            <a:ext cx="82296" cy="1417320"/>
          </a:xfrm>
          <a:prstGeom prst="rect">
            <a:avLst/>
          </a:prstGeom>
          <a:solidFill>
            <a:srgbClr val="1E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799" y="156362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7A45"/>
                </a:solidFill>
                <a:latin typeface="Calibri"/>
              </a:rPr>
              <a:t>De-Risked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192024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Every missing piece (Tamil GPT-2, ThamizhiMorph) already has a real, open-source option identified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089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108960"/>
            <a:ext cx="82296" cy="14173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2552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3FA0"/>
                </a:solidFill>
                <a:latin typeface="Calibri"/>
              </a:rPr>
              <a:t>Two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A testable linguistic claim about metric transfer + a working Tamil simplification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31089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7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3108960"/>
            <a:ext cx="82296" cy="141732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799" y="32552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77700"/>
                </a:solidFill>
                <a:latin typeface="Calibri"/>
              </a:rPr>
              <a:t>Bigger Than Tamil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6118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82"/>
                </a:solidFill>
                <a:latin typeface="Calibri"/>
              </a:rPr>
              <a:t>Same question applies to Turkish, Finnish, Korean — any agglutinative language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EEF1F7"/>
          </a:solidFill>
          <a:ln w="1270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1188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3A6B"/>
                </a:solidFill>
                <a:latin typeface="Calibri"/>
              </a:rPr>
              <a:t>6–8 wks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4910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1879" y="4983480"/>
            <a:ext cx="320040" cy="237744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931920" y="4910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SIMPLIFIER</a:t>
            </a:r>
          </a:p>
        </p:txBody>
      </p:sp>
      <p:sp>
        <p:nvSpPr>
          <p:cNvPr id="32" name="Chevron 31"/>
          <p:cNvSpPr/>
          <p:nvPr/>
        </p:nvSpPr>
        <p:spPr>
          <a:xfrm>
            <a:off x="5669279" y="4983480"/>
            <a:ext cx="320040" cy="237744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989320" y="4910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34" name="Chevron 33"/>
          <p:cNvSpPr/>
          <p:nvPr/>
        </p:nvSpPr>
        <p:spPr>
          <a:xfrm>
            <a:off x="7726679" y="4983480"/>
            <a:ext cx="320040" cy="237744"/>
          </a:xfrm>
          <a:prstGeom prst="chevron">
            <a:avLst/>
          </a:prstGeom>
          <a:solidFill>
            <a:srgbClr val="AEB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46720" y="4910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WRITEUP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46888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" y="3429000"/>
            <a:ext cx="1005840" cy="41148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6118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7D3E8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43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8FA3C7"/>
                </a:solidFill>
                <a:latin typeface="Calibri"/>
              </a:rPr>
              <a:t>Happy to go deeper on the GPT-2 context-window mechanics, the negative result, or the Tamil plan's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080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F82A8"/>
                </a:solidFill>
                <a:latin typeface="Calibri"/>
              </a:rPr>
              <a:t>Bhagyalaxmi Pandiyan   |   Progress Meeting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1232</Words>
  <Application>Microsoft Office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bhagya</cp:lastModifiedBy>
  <cp:revision>4</cp:revision>
  <dcterms:created xsi:type="dcterms:W3CDTF">2013-01-27T09:14:16Z</dcterms:created>
  <dcterms:modified xsi:type="dcterms:W3CDTF">2026-09-10T18:42:17Z</dcterms:modified>
  <cp:category/>
</cp:coreProperties>
</file>